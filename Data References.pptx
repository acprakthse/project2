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0" r:id="rId6"/>
    <p:sldId id="261" r:id="rId7"/>
    <p:sldId id="262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A8B7F-7587-44E8-AC9B-056506FC446E}" v="58" dt="2025-12-03T10:44:01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00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na Kusuma" userId="8de7b180-bc3e-4c67-8c1f-3e9dbdf4faba" providerId="ADAL" clId="{ADE0E7C5-D6CB-42AD-B2FB-15098419ABF3}"/>
    <pc:docChg chg="undo custSel addSld modSld sldOrd">
      <pc:chgData name="Johanna Kusuma" userId="8de7b180-bc3e-4c67-8c1f-3e9dbdf4faba" providerId="ADAL" clId="{ADE0E7C5-D6CB-42AD-B2FB-15098419ABF3}" dt="2025-12-03T17:34:51.738" v="63" actId="478"/>
      <pc:docMkLst>
        <pc:docMk/>
      </pc:docMkLst>
      <pc:sldChg chg="addSp delSp modSp mod chgLayout">
        <pc:chgData name="Johanna Kusuma" userId="8de7b180-bc3e-4c67-8c1f-3e9dbdf4faba" providerId="ADAL" clId="{ADE0E7C5-D6CB-42AD-B2FB-15098419ABF3}" dt="2025-12-03T10:40:46.550" v="4" actId="700"/>
        <pc:sldMkLst>
          <pc:docMk/>
          <pc:sldMk cId="3937037837" sldId="257"/>
        </pc:sldMkLst>
        <pc:spChg chg="mod ord">
          <ac:chgData name="Johanna Kusuma" userId="8de7b180-bc3e-4c67-8c1f-3e9dbdf4faba" providerId="ADAL" clId="{ADE0E7C5-D6CB-42AD-B2FB-15098419ABF3}" dt="2025-12-03T10:40:46.550" v="4" actId="700"/>
          <ac:spMkLst>
            <pc:docMk/>
            <pc:sldMk cId="3937037837" sldId="257"/>
            <ac:spMk id="2" creationId="{A0FDF5D3-EEEE-F079-6CD9-FF3337E50FE1}"/>
          </ac:spMkLst>
        </pc:spChg>
        <pc:spChg chg="add del mod ord">
          <ac:chgData name="Johanna Kusuma" userId="8de7b180-bc3e-4c67-8c1f-3e9dbdf4faba" providerId="ADAL" clId="{ADE0E7C5-D6CB-42AD-B2FB-15098419ABF3}" dt="2025-12-03T10:40:46.550" v="4" actId="700"/>
          <ac:spMkLst>
            <pc:docMk/>
            <pc:sldMk cId="3937037837" sldId="257"/>
            <ac:spMk id="3" creationId="{AC0AAC60-53C4-2043-0482-A78D4E2F698B}"/>
          </ac:spMkLst>
        </pc:spChg>
      </pc:sldChg>
      <pc:sldChg chg="addSp delSp modSp mod">
        <pc:chgData name="Johanna Kusuma" userId="8de7b180-bc3e-4c67-8c1f-3e9dbdf4faba" providerId="ADAL" clId="{ADE0E7C5-D6CB-42AD-B2FB-15098419ABF3}" dt="2025-12-03T17:34:51.738" v="63" actId="478"/>
        <pc:sldMkLst>
          <pc:docMk/>
          <pc:sldMk cId="1278910647" sldId="259"/>
        </pc:sldMkLst>
        <pc:spChg chg="del">
          <ac:chgData name="Johanna Kusuma" userId="8de7b180-bc3e-4c67-8c1f-3e9dbdf4faba" providerId="ADAL" clId="{ADE0E7C5-D6CB-42AD-B2FB-15098419ABF3}" dt="2025-12-03T10:42:01.695" v="30" actId="3680"/>
          <ac:spMkLst>
            <pc:docMk/>
            <pc:sldMk cId="1278910647" sldId="259"/>
            <ac:spMk id="3" creationId="{6DAE0859-4A8C-0801-8CC6-020CFC2C7B55}"/>
          </ac:spMkLst>
        </pc:spChg>
        <pc:spChg chg="add mod">
          <ac:chgData name="Johanna Kusuma" userId="8de7b180-bc3e-4c67-8c1f-3e9dbdf4faba" providerId="ADAL" clId="{ADE0E7C5-D6CB-42AD-B2FB-15098419ABF3}" dt="2025-12-03T17:34:51.738" v="63" actId="478"/>
          <ac:spMkLst>
            <pc:docMk/>
            <pc:sldMk cId="1278910647" sldId="259"/>
            <ac:spMk id="6" creationId="{002E4EB1-DC78-9386-8567-11E73CD2A7E2}"/>
          </ac:spMkLst>
        </pc:spChg>
        <pc:graphicFrameChg chg="add del mod ord modGraphic">
          <ac:chgData name="Johanna Kusuma" userId="8de7b180-bc3e-4c67-8c1f-3e9dbdf4faba" providerId="ADAL" clId="{ADE0E7C5-D6CB-42AD-B2FB-15098419ABF3}" dt="2025-12-03T17:34:51.738" v="63" actId="478"/>
          <ac:graphicFrameMkLst>
            <pc:docMk/>
            <pc:sldMk cId="1278910647" sldId="259"/>
            <ac:graphicFrameMk id="4" creationId="{53DC6DF7-9A8B-FBA6-072C-6C1A636DE948}"/>
          </ac:graphicFrameMkLst>
        </pc:graphicFrameChg>
      </pc:sldChg>
      <pc:sldChg chg="add ord">
        <pc:chgData name="Johanna Kusuma" userId="8de7b180-bc3e-4c67-8c1f-3e9dbdf4faba" providerId="ADAL" clId="{ADE0E7C5-D6CB-42AD-B2FB-15098419ABF3}" dt="2025-12-03T10:40:36.054" v="2"/>
        <pc:sldMkLst>
          <pc:docMk/>
          <pc:sldMk cId="365573789" sldId="262"/>
        </pc:sldMkLst>
      </pc:sldChg>
      <pc:sldChg chg="addSp delSp modSp new mod">
        <pc:chgData name="Johanna Kusuma" userId="8de7b180-bc3e-4c67-8c1f-3e9dbdf4faba" providerId="ADAL" clId="{ADE0E7C5-D6CB-42AD-B2FB-15098419ABF3}" dt="2025-12-03T17:34:41.977" v="62" actId="14100"/>
        <pc:sldMkLst>
          <pc:docMk/>
          <pc:sldMk cId="1740640844" sldId="263"/>
        </pc:sldMkLst>
        <pc:spChg chg="mod">
          <ac:chgData name="Johanna Kusuma" userId="8de7b180-bc3e-4c67-8c1f-3e9dbdf4faba" providerId="ADAL" clId="{ADE0E7C5-D6CB-42AD-B2FB-15098419ABF3}" dt="2025-12-03T10:44:01.210" v="59" actId="20577"/>
          <ac:spMkLst>
            <pc:docMk/>
            <pc:sldMk cId="1740640844" sldId="263"/>
            <ac:spMk id="2" creationId="{6FA90769-6BF1-6263-AAE5-52319163EB65}"/>
          </ac:spMkLst>
        </pc:spChg>
        <pc:spChg chg="del">
          <ac:chgData name="Johanna Kusuma" userId="8de7b180-bc3e-4c67-8c1f-3e9dbdf4faba" providerId="ADAL" clId="{ADE0E7C5-D6CB-42AD-B2FB-15098419ABF3}" dt="2025-12-03T10:40:54.309" v="6"/>
          <ac:spMkLst>
            <pc:docMk/>
            <pc:sldMk cId="1740640844" sldId="263"/>
            <ac:spMk id="3" creationId="{6FA275F1-1B42-3362-D6FF-4D50A7E44286}"/>
          </ac:spMkLst>
        </pc:spChg>
        <pc:spChg chg="add">
          <ac:chgData name="Johanna Kusuma" userId="8de7b180-bc3e-4c67-8c1f-3e9dbdf4faba" providerId="ADAL" clId="{ADE0E7C5-D6CB-42AD-B2FB-15098419ABF3}" dt="2025-12-03T10:43:40.428" v="32"/>
          <ac:spMkLst>
            <pc:docMk/>
            <pc:sldMk cId="1740640844" sldId="263"/>
            <ac:spMk id="5" creationId="{85338985-274C-AD32-CE38-5E66105200CF}"/>
          </ac:spMkLst>
        </pc:spChg>
        <pc:picChg chg="add mod">
          <ac:chgData name="Johanna Kusuma" userId="8de7b180-bc3e-4c67-8c1f-3e9dbdf4faba" providerId="ADAL" clId="{ADE0E7C5-D6CB-42AD-B2FB-15098419ABF3}" dt="2025-12-03T17:34:41.977" v="62" actId="14100"/>
          <ac:picMkLst>
            <pc:docMk/>
            <pc:sldMk cId="1740640844" sldId="263"/>
            <ac:picMk id="4" creationId="{406B6F9F-8425-F389-B754-9B770BE5446E}"/>
          </ac:picMkLst>
        </pc:picChg>
        <pc:picChg chg="add mod">
          <ac:chgData name="Johanna Kusuma" userId="8de7b180-bc3e-4c67-8c1f-3e9dbdf4faba" providerId="ADAL" clId="{ADE0E7C5-D6CB-42AD-B2FB-15098419ABF3}" dt="2025-12-03T17:34:36.337" v="60" actId="14100"/>
          <ac:picMkLst>
            <pc:docMk/>
            <pc:sldMk cId="1740640844" sldId="263"/>
            <ac:picMk id="6" creationId="{6E8136CD-FA14-0220-3734-BC7A7B51DE24}"/>
          </ac:picMkLst>
        </pc:picChg>
      </pc:sldChg>
    </pc:docChg>
  </pc:docChgLst>
  <pc:docChgLst>
    <pc:chgData name="Ardian Candra Pratama" userId="e4bac598-9fb1-487f-a945-2d1f06cdcc6e" providerId="ADAL" clId="{2B6E93A2-21B8-4877-B575-11F537FBA67E}"/>
    <pc:docChg chg="undo custSel modSld">
      <pc:chgData name="Ardian Candra Pratama" userId="e4bac598-9fb1-487f-a945-2d1f06cdcc6e" providerId="ADAL" clId="{2B6E93A2-21B8-4877-B575-11F537FBA67E}" dt="2025-12-03T09:48:05.621" v="2" actId="14734"/>
      <pc:docMkLst>
        <pc:docMk/>
      </pc:docMkLst>
      <pc:sldChg chg="modSp mod">
        <pc:chgData name="Ardian Candra Pratama" userId="e4bac598-9fb1-487f-a945-2d1f06cdcc6e" providerId="ADAL" clId="{2B6E93A2-21B8-4877-B575-11F537FBA67E}" dt="2025-12-03T09:48:05.621" v="2" actId="14734"/>
        <pc:sldMkLst>
          <pc:docMk/>
          <pc:sldMk cId="3937037837" sldId="257"/>
        </pc:sldMkLst>
        <pc:graphicFrameChg chg="modGraphic">
          <ac:chgData name="Ardian Candra Pratama" userId="e4bac598-9fb1-487f-a945-2d1f06cdcc6e" providerId="ADAL" clId="{2B6E93A2-21B8-4877-B575-11F537FBA67E}" dt="2025-12-03T09:48:05.621" v="2" actId="14734"/>
          <ac:graphicFrameMkLst>
            <pc:docMk/>
            <pc:sldMk cId="3937037837" sldId="257"/>
            <ac:graphicFrameMk id="5" creationId="{0F46487E-5789-4BA3-855D-9AD66C3A94D6}"/>
          </ac:graphicFrameMkLst>
        </pc:graphicFrameChg>
        <pc:graphicFrameChg chg="modGraphic">
          <ac:chgData name="Ardian Candra Pratama" userId="e4bac598-9fb1-487f-a945-2d1f06cdcc6e" providerId="ADAL" clId="{2B6E93A2-21B8-4877-B575-11F537FBA67E}" dt="2025-12-03T09:44:38.719" v="1" actId="14734"/>
          <ac:graphicFrameMkLst>
            <pc:docMk/>
            <pc:sldMk cId="3937037837" sldId="257"/>
            <ac:graphicFrameMk id="8" creationId="{F82F5AC6-F04D-03EB-59D8-6BE1E6E849E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490A-3D89-B7A8-CAF5-0B5AB0216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C2E3C-8517-E5FE-8B68-60827838B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AB2A0-1F74-F945-8C76-36D5B3EE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0C151-E9CC-2D3B-6C41-B8018DC66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C3ECF-94EA-EDFF-4E8B-46C9B93D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6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32F3-16FB-777D-D73B-E1741C2DC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0A6F8-3441-4DF1-635B-12C3F9A45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435F2-2C2D-A5D2-34AF-73563249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44BBA-A675-77EC-5381-C95BB039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4B872-D2BB-D87B-4FFD-0B921750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9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13EC-BFC7-9935-C359-8D3399F7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53F34-42D7-C8D4-F223-D0001C72D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FE9DC-2434-4FE2-4CE0-46A447A11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813C-BFA4-D9C1-A384-FC9B059E1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B083A-5573-42B0-D44E-33B68590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8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A953-0D57-7BF0-7ED0-513DC08F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AFA2-F46E-19F1-2229-0D60E0F54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1DBFD-90FA-057F-F6DD-D5BF113E3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04B99-64C3-531C-E8AA-B54E1178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FCA64-98F8-2692-BE8B-0686E9E9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34BFE-7C99-B8D3-EA6A-8A766935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9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FE15-6DBA-C1ED-C9E6-60B27266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CCB32-596A-8ADA-0CD0-7D59D7E80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CED64-717C-58A5-E721-CEA4466A3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9E807-4B1E-5728-1D69-5ECB02CA1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41AC4-BFC7-3E28-370D-885813EB2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64B30-23ED-5605-B254-BCCD2095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58343-FFB8-ACDF-C7D8-6C63D00B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BD36CB-6F65-141A-5C67-026B15DC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75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EA2E-1265-C128-8DB2-432F0EF0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C4E75-D57E-8FE5-11DA-89EC7B8D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8FB4F-AA2C-FA6D-C7F3-C21829B0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AD9DD-984A-627B-3FEF-001B260C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02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7CEA2-197E-531A-BF6C-5E5F164B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3C195-FD26-7B36-9A11-6B5F9095B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B6AB7-0BD5-DACA-8149-81D65D40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8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B6E7-24CB-C424-F82A-14F10FB36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28F65-D7D5-916E-40FC-60C6C2583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BE041-18B8-13C9-84E3-ABC4F808B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A71A0-2E1B-A50D-B7E9-C9E29E181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8126C-0560-9132-F7DF-E399EC48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6536A-E031-8220-432B-D1EE07CE3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5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D611-C793-6593-7C56-B7A77490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DD0268-5AC7-83BE-D850-E0FD9E472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2478E-62E8-D35A-53D5-5B13E688F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5FCD5-E9C6-01D9-0309-664AB12C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DED55-1850-E9B3-7F8E-55DA5B1B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9A7FF-502D-56FD-E177-39B3DB99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1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225A-A97E-BFA6-F669-AA9977E1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A3D14-07D8-4BDD-A27C-7166DCFD3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00BB0-D42B-B28D-DBC9-DD04D5DC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FABC7-3096-4C17-7F9C-39FFB0BD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E565C-B19D-86CD-BCDA-DF618A28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3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E9A3E-E022-C41C-4A2B-55C81AB1A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A953A-07E8-F650-271A-426E3BEB2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43269-E084-DA30-2A2B-B9C39EF3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9CA55-D163-C1D6-C192-3BE6D5D5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15007-3180-9D6D-1470-36515A5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4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472A7F-7D54-6B04-2FC9-719784656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9A29C-EA8A-1506-B255-F8FA6A15F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D6D21-7212-1B28-28B8-B0658977B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EC752-5258-4F70-BB94-38BEDCC8EDE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9C44-F6A2-6BC9-BF87-846C43477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7EE2-7A22-A7A8-AA34-D4BF1C04C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E9C66-B145-4E6A-93F1-2C8925FF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97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xchange-rates.org/exchange-rate-history/sek-eur-2023?utm_source=chatgpt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investing.com/commodities/carbon-emissions-historical-dat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3651-40D2-1596-8128-63CD76D59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ELECTRICTY PRICE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36AAE-46CC-FC48-E7A9-43E76ADD35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https://ember-energy.org/data/european-wholesale-electricity-price-data/</a:t>
            </a:r>
          </a:p>
        </p:txBody>
      </p:sp>
    </p:spTree>
    <p:extLst>
      <p:ext uri="{BB962C8B-B14F-4D97-AF65-F5344CB8AC3E}">
        <p14:creationId xmlns:p14="http://schemas.microsoft.com/office/powerpoint/2010/main" val="376953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DF5D3-EEEE-F079-6CD9-FF3337E5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328" y="365125"/>
            <a:ext cx="6003471" cy="1325563"/>
          </a:xfrm>
        </p:spPr>
        <p:txBody>
          <a:bodyPr/>
          <a:lstStyle/>
          <a:p>
            <a:r>
              <a:rPr lang="en-US" dirty="0" err="1"/>
              <a:t>WtE</a:t>
            </a:r>
            <a:r>
              <a:rPr lang="en-US" dirty="0"/>
              <a:t> Production Unit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46487E-5789-4BA3-855D-9AD66C3A9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369820"/>
              </p:ext>
            </p:extLst>
          </p:nvPr>
        </p:nvGraphicFramePr>
        <p:xfrm>
          <a:off x="212237" y="161477"/>
          <a:ext cx="4795192" cy="6601949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32412">
                  <a:extLst>
                    <a:ext uri="{9D8B030D-6E8A-4147-A177-3AD203B41FA5}">
                      <a16:colId xmlns:a16="http://schemas.microsoft.com/office/drawing/2014/main" val="3166555177"/>
                    </a:ext>
                  </a:extLst>
                </a:gridCol>
                <a:gridCol w="3149505">
                  <a:extLst>
                    <a:ext uri="{9D8B030D-6E8A-4147-A177-3AD203B41FA5}">
                      <a16:colId xmlns:a16="http://schemas.microsoft.com/office/drawing/2014/main" val="510501189"/>
                    </a:ext>
                  </a:extLst>
                </a:gridCol>
                <a:gridCol w="1513275">
                  <a:extLst>
                    <a:ext uri="{9D8B030D-6E8A-4147-A177-3AD203B41FA5}">
                      <a16:colId xmlns:a16="http://schemas.microsoft.com/office/drawing/2014/main" val="2342230179"/>
                    </a:ext>
                  </a:extLst>
                </a:gridCol>
              </a:tblGrid>
              <a:tr h="9258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Energy/technical data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641644859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Generating capacity for one unit [MW_e]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8.12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86957480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Electrical efficiency (net, annual average)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22%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537493678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Electrical efficiency (net, name plate)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227573895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Cb coefficient (40°C/80°C)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746622949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Cv coefficient (40°C/80°C)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99903823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Auxiliary Electricity consumption (share of heat gen.)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806487737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Forced outage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678057120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Planned outage [weeks per year]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3.01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2530680035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Technical lifetime [years]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03728580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Construction time [years]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4168692236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Space requirement [1000 m2/MW_e]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2.46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169152139"/>
                  </a:ext>
                </a:extLst>
              </a:tr>
              <a:tr h="9258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Regulation ability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5213457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Primary regulation (of full load, per 30 seconds)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666585420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Secondary regulation (of full load, per minute)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55075955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Minimum load (of full load)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50109565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Warm start-up time [hours]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132050922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Cold start-up time [hours]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244001049"/>
                  </a:ext>
                </a:extLst>
              </a:tr>
              <a:tr h="9258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Environment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21637512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SO2 (degree of desulphuring)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100%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335198745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NOX [g/GJ_i]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2529210129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CH4 [g/GJ_i]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26531292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N2O [g/GJ_i]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579404502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Particles [g/GJ_i]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444679460"/>
                  </a:ext>
                </a:extLst>
              </a:tr>
              <a:tr h="9258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Financial data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55294309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(*total) [MEUR/MW_e]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10.6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090254120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(equipment) [MEUR/MW_e]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6.7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71258956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Nominal investment (installation) [MEUR/MW_e]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3.9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048449048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Variable O&amp;M (*total) [EUR/MWh_e]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27.0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104692661"/>
                  </a:ext>
                </a:extLst>
              </a:tr>
              <a:tr h="985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Fixed O&amp;M (*total) [EUR/MW_e/y]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406208.4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4024584532"/>
                  </a:ext>
                </a:extLst>
              </a:tr>
              <a:tr h="9258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Technology-specific data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4113855267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Heat efficiency (net, annual average)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80%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228856150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Heat efficiency (net, name plate)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79%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170822340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(*total) [MEUR/MW_i]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4195474665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Nominal investment (*total) [MEUR/t_i]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903.9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76741070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(equipment) [MEUR/MW_i]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87105035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(installation) [MEUR/MW_i]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98609636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Variable O&amp;M (*total) [EUR/</a:t>
                      </a:r>
                      <a:r>
                        <a:rPr lang="en-US" sz="900" u="none" strike="noStrike" dirty="0" err="1">
                          <a:effectLst/>
                        </a:rPr>
                        <a:t>MWh_i</a:t>
                      </a:r>
                      <a:r>
                        <a:rPr lang="en-US" sz="900" u="none" strike="noStrike" dirty="0">
                          <a:effectLst/>
                        </a:rPr>
                        <a:t>]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6.3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04468517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Fixed O&amp;M (*total) [EUR/MW_i/y]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94214.8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983816342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Fixed O&amp;M (*total) [EUR/t_i/y]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34.7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362109491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Steam reheat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987888946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Output of recovered condensate [t/MWh_i]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2390588025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Output of recovered condensate [EUR/t_i]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18.4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8103574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Incineration capacity [t_i/h]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11.88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56131389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Flue gas condensation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464041057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Combustion air humidification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2984019489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Additional heat potential with heat pumps (of thermal input)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07" marR="3307" marT="3307" marB="0" anchor="b"/>
                </a:tc>
                <a:extLst>
                  <a:ext uri="{0D108BD9-81ED-4DB2-BD59-A6C34878D82A}">
                    <a16:rowId xmlns:a16="http://schemas.microsoft.com/office/drawing/2014/main" val="155177737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2F5AC6-F04D-03EB-59D8-6BE1E6E84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735408"/>
              </p:ext>
            </p:extLst>
          </p:nvPr>
        </p:nvGraphicFramePr>
        <p:xfrm>
          <a:off x="5399313" y="1571602"/>
          <a:ext cx="6166758" cy="4555286"/>
        </p:xfrm>
        <a:graphic>
          <a:graphicData uri="http://schemas.openxmlformats.org/drawingml/2006/table">
            <a:tbl>
              <a:tblPr/>
              <a:tblGrid>
                <a:gridCol w="3083379">
                  <a:extLst>
                    <a:ext uri="{9D8B030D-6E8A-4147-A177-3AD203B41FA5}">
                      <a16:colId xmlns:a16="http://schemas.microsoft.com/office/drawing/2014/main" val="2991378307"/>
                    </a:ext>
                  </a:extLst>
                </a:gridCol>
                <a:gridCol w="3083379">
                  <a:extLst>
                    <a:ext uri="{9D8B030D-6E8A-4147-A177-3AD203B41FA5}">
                      <a16:colId xmlns:a16="http://schemas.microsoft.com/office/drawing/2014/main" val="887022212"/>
                    </a:ext>
                  </a:extLst>
                </a:gridCol>
              </a:tblGrid>
              <a:tr h="404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96912"/>
                  </a:ext>
                </a:extLst>
              </a:tr>
              <a:tr h="404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LHV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10.6 MJ/kg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811332"/>
                  </a:ext>
                </a:extLst>
              </a:tr>
              <a:tr h="404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Waste handling 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830 SEK/ton (0.830 SEK/kg) </a:t>
                      </a:r>
                      <a:r>
                        <a:rPr lang="en-US" sz="1800" dirty="0"/>
                        <a:t>(Swedish waste Management 2023)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327796"/>
                  </a:ext>
                </a:extLst>
              </a:tr>
              <a:tr h="707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SEK → EUR average exchange rate (2023)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SEK ≈ 0.08716 EUR (</a:t>
                      </a:r>
                      <a:r>
                        <a:rPr lang="en-US">
                          <a:hlinkClick r:id="rId2" tooltip="SEK to EUR Exchange Rate History for 2023"/>
                        </a:rPr>
                        <a:t>Exchange Rates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189868"/>
                  </a:ext>
                </a:extLst>
              </a:tr>
              <a:tr h="707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Price in EUR/kg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0.830 SEK/kg × 0.08716 ≈ </a:t>
                      </a:r>
                      <a:r>
                        <a:rPr lang="en-US" b="1"/>
                        <a:t>0.0723 EUR/kg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438171"/>
                  </a:ext>
                </a:extLst>
              </a:tr>
              <a:tr h="707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LHV in MWh/kg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10.6 MJ/kg × 0.00027777778 MWh/MJ ≈ </a:t>
                      </a:r>
                      <a:r>
                        <a:rPr lang="en-US" b="1"/>
                        <a:t>0.00294 MWh/kg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8817"/>
                  </a:ext>
                </a:extLst>
              </a:tr>
              <a:tr h="707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Fuel cost per MWh (EUR)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0.0723 EUR/kg ÷ 0.00294 MWh/kg ≈ </a:t>
                      </a:r>
                      <a:r>
                        <a:rPr lang="en-US" b="1" dirty="0"/>
                        <a:t>24.6 EUR/MWh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63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03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90769-6BF1-6263-AAE5-52319163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CO2 emission factor </a:t>
            </a:r>
            <a:r>
              <a:rPr lang="en-US" dirty="0" err="1"/>
              <a:t>WtE</a:t>
            </a:r>
            <a:r>
              <a:rPr lang="en-US" dirty="0"/>
              <a:t> = 37 kg/GJ</a:t>
            </a:r>
            <a:endParaRPr lang="en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6B6F9F-8425-F389-B754-9B770BE54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2119"/>
            <a:ext cx="9656928" cy="2006634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85338985-274C-AD32-CE38-5E66105200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8136CD-FA14-0220-3734-BC7A7B51D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585" y="4357687"/>
            <a:ext cx="6192287" cy="185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40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07A8-A38F-6C9F-0770-4332C451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2460-C905-BB3B-CFB0-427DD92A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328" y="365125"/>
            <a:ext cx="6003471" cy="1325563"/>
          </a:xfrm>
        </p:spPr>
        <p:txBody>
          <a:bodyPr/>
          <a:lstStyle/>
          <a:p>
            <a:r>
              <a:rPr lang="en-US" dirty="0"/>
              <a:t>Wood Chips CHP Prod Unit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A2531E-D55B-56D5-1CE8-08113D4A7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10938"/>
              </p:ext>
            </p:extLst>
          </p:nvPr>
        </p:nvGraphicFramePr>
        <p:xfrm>
          <a:off x="114754" y="101600"/>
          <a:ext cx="5126716" cy="6324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648">
                  <a:extLst>
                    <a:ext uri="{9D8B030D-6E8A-4147-A177-3AD203B41FA5}">
                      <a16:colId xmlns:a16="http://schemas.microsoft.com/office/drawing/2014/main" val="3033126343"/>
                    </a:ext>
                  </a:extLst>
                </a:gridCol>
                <a:gridCol w="3297869">
                  <a:extLst>
                    <a:ext uri="{9D8B030D-6E8A-4147-A177-3AD203B41FA5}">
                      <a16:colId xmlns:a16="http://schemas.microsoft.com/office/drawing/2014/main" val="3392721522"/>
                    </a:ext>
                  </a:extLst>
                </a:gridCol>
                <a:gridCol w="1690199">
                  <a:extLst>
                    <a:ext uri="{9D8B030D-6E8A-4147-A177-3AD203B41FA5}">
                      <a16:colId xmlns:a16="http://schemas.microsoft.com/office/drawing/2014/main" val="1261128018"/>
                    </a:ext>
                  </a:extLst>
                </a:gridCol>
              </a:tblGrid>
              <a:tr h="96989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Energy/technical data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449763781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Generating capacity for one unit [MW_e]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975317996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Electrical efficiency (net, annual average)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14%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880652160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Electrical efficiency (net, name plate)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102134217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Cb coefficient (40°C/80°C)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839060818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Cv coefficient (40°C/80°C)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773030318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Auxiliary Electricity consumption (share of heat gen.)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416712927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Forced outage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512639312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Planned outage [weeks per year]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802686623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Technical lifetime [years]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236252477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Construction time [years]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67117355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Space requirement [1000 m2/MW_e]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261038057"/>
                  </a:ext>
                </a:extLst>
              </a:tr>
              <a:tr h="96989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Regulation ability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585027148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Primary regulation (of full load, per 30 seconds)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930139374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Secondary regulation (of full load, per minute)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90762388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Minimum load (of full load)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378112901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Warm start-up time [hours]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4083054415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Cold start-up time [hours]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503446779"/>
                  </a:ext>
                </a:extLst>
              </a:tr>
              <a:tr h="96989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Environment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38768500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SO2 (degree of desulphuring)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98%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580242763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NOX [g/GJ_i]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037322326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CH4 [g/GJ_i]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697301155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N2O [g/GJ_i]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798410875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Particles [g/GJ_i]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548697221"/>
                  </a:ext>
                </a:extLst>
              </a:tr>
              <a:tr h="96989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Financial data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850090402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(*total) [MEUR/MW_e]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6.37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489850197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(equipment) [MEUR/MW_e]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3.96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812630837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Nominal investment (installation) [MEUR/MW_e]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2.41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346049493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Variable O&amp;M (*total) [EUR/MWh_e]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9.80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75078725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Fixed O&amp;M (*total) [EUR/MW_e/y]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290300.75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872143005"/>
                  </a:ext>
                </a:extLst>
              </a:tr>
              <a:tr h="96989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Technology-specific data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595462550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Heat efficiency (net, annual average)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97%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1719733542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Heat efficiency (net, name plate)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97%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019260200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(*total) [MEUR/MW_i]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761114099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(equipment) [MEUR/MW_i]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899375635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Nominal investment (installation) [MEUR/MW_i]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4037243096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Variable O&amp;M (*total) [EUR/MWh_i]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1.45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156824172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Fixed O&amp;M (*total) [EUR/MW_i/y]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42747.58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2296648958"/>
                  </a:ext>
                </a:extLst>
              </a:tr>
              <a:tr h="1808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Fuel storage specific cost in excess of 2 days [MEUR/MW_i/storage day]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981474547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Steam reheat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323357955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Output of recovered condensate [t/MWh_i]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364037116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Flue gas condensation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3244606462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Combustion air humidification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593218014"/>
                  </a:ext>
                </a:extLst>
              </a:tr>
              <a:tr h="9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Additional heat potential with heat pumps (of thermal input) []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64" marR="3464" marT="3464" marB="0" anchor="b"/>
                </a:tc>
                <a:extLst>
                  <a:ext uri="{0D108BD9-81ED-4DB2-BD59-A6C34878D82A}">
                    <a16:rowId xmlns:a16="http://schemas.microsoft.com/office/drawing/2014/main" val="42640503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CB2074-44C1-2C48-1993-18BDCBB37B34}"/>
              </a:ext>
            </a:extLst>
          </p:cNvPr>
          <p:cNvSpPr txBox="1"/>
          <p:nvPr/>
        </p:nvSpPr>
        <p:spPr>
          <a:xfrm>
            <a:off x="5495471" y="326390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https://pxexternal.energimyndigheten.se/pxweb/en/Energimyndighetens_statistikdatabas/Energimyndighetens_statistikdatabas__Officiell_energistatistik__Tradbransle_och_torvpriser/5_EN0307_6.px/?utm_source=chatgpt.com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289823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485ED-06BD-B9E8-2091-8A252DE5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0246-2475-727E-82C5-D493FCC0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328" y="365125"/>
            <a:ext cx="6003471" cy="1325563"/>
          </a:xfrm>
        </p:spPr>
        <p:txBody>
          <a:bodyPr/>
          <a:lstStyle/>
          <a:p>
            <a:r>
              <a:rPr lang="en-US" dirty="0"/>
              <a:t>Natural Gas DH Only Prod Unit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806E16-9D3F-CAA7-997B-324C0DBE3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059198"/>
              </p:ext>
            </p:extLst>
          </p:nvPr>
        </p:nvGraphicFramePr>
        <p:xfrm>
          <a:off x="127000" y="161925"/>
          <a:ext cx="5073650" cy="54416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062">
                  <a:extLst>
                    <a:ext uri="{9D8B030D-6E8A-4147-A177-3AD203B41FA5}">
                      <a16:colId xmlns:a16="http://schemas.microsoft.com/office/drawing/2014/main" val="316101979"/>
                    </a:ext>
                  </a:extLst>
                </a:gridCol>
                <a:gridCol w="3497983">
                  <a:extLst>
                    <a:ext uri="{9D8B030D-6E8A-4147-A177-3AD203B41FA5}">
                      <a16:colId xmlns:a16="http://schemas.microsoft.com/office/drawing/2014/main" val="621398126"/>
                    </a:ext>
                  </a:extLst>
                </a:gridCol>
                <a:gridCol w="1428605">
                  <a:extLst>
                    <a:ext uri="{9D8B030D-6E8A-4147-A177-3AD203B41FA5}">
                      <a16:colId xmlns:a16="http://schemas.microsoft.com/office/drawing/2014/main" val="3828473497"/>
                    </a:ext>
                  </a:extLst>
                </a:gridCol>
              </a:tblGrid>
              <a:tr h="13335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Energy/technical data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7472533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Generating capacity for one unit [MW_h]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12742858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Heat efficiency (net, annual average)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0996858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Heat efficiency (net, name plate)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14694156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Auxiliary Electricity consumption (share of heat gen.)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693346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Forced outage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1162858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Planned outage [weeks per year]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68841632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Technical lifetime [years]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360188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Construction time [years]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80834535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Space requirement [1000 m2/MW_h]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91011475"/>
                  </a:ext>
                </a:extLst>
              </a:tr>
              <a:tr h="13335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Regulation ability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2797032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Primary regulation (of full load, per 30 seconds)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63504405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Secondary regulation (of full load, per minute)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59282205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Minimum load (of full load)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9165504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Warm start-up time [hours]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91232576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Cold start-up time [hours]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74602022"/>
                  </a:ext>
                </a:extLst>
              </a:tr>
              <a:tr h="13335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Environment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16690734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SO2 [g/GJ_i]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4818517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NOX [g/GJ_i]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1127454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CH4 [g/GJ_i]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5938318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N2O [g/GJ_i]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441532811"/>
                  </a:ext>
                </a:extLst>
              </a:tr>
              <a:tr h="13335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Financial data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4730408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Nominal investment (*total) [MEUR/MW_h]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8217077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Nominal investment (equipment) [MEUR/MW_h]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0807589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Nominal investment (installation) [MEUR/MW_h]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42799486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Variable O&amp;M (*total) [EUR/MWh_h]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02292163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Variable O&amp;M (electricity cost) [EUR/MWh_h]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5530931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Variable O&amp;M (other O&amp;M) [EUR/MWh_h]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34446336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Fixed O&amp;M (*total) [EUR/MW_h/y]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1063.37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4354660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71FBE1-D1CE-F2E2-BD71-66501B720371}"/>
              </a:ext>
            </a:extLst>
          </p:cNvPr>
          <p:cNvSpPr txBox="1"/>
          <p:nvPr/>
        </p:nvSpPr>
        <p:spPr>
          <a:xfrm>
            <a:off x="5607050" y="28827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https://www.investing.com/commodities/dutch-ttf-gas-c1-futures</a:t>
            </a:r>
          </a:p>
        </p:txBody>
      </p:sp>
    </p:spTree>
    <p:extLst>
      <p:ext uri="{BB962C8B-B14F-4D97-AF65-F5344CB8AC3E}">
        <p14:creationId xmlns:p14="http://schemas.microsoft.com/office/powerpoint/2010/main" val="15166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20972-158E-9E2E-6112-02EB6EEEE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B66A-1C00-9F3C-5194-DBE96F060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328" y="365125"/>
            <a:ext cx="6003471" cy="1325563"/>
          </a:xfrm>
        </p:spPr>
        <p:txBody>
          <a:bodyPr/>
          <a:lstStyle/>
          <a:p>
            <a:r>
              <a:rPr lang="en-US" dirty="0"/>
              <a:t>Heat Pump Excess Heat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33EC31-CAFC-4C00-FF2A-DAC8C899E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787913"/>
              </p:ext>
            </p:extLst>
          </p:nvPr>
        </p:nvGraphicFramePr>
        <p:xfrm>
          <a:off x="104775" y="161925"/>
          <a:ext cx="5245553" cy="6190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45">
                  <a:extLst>
                    <a:ext uri="{9D8B030D-6E8A-4147-A177-3AD203B41FA5}">
                      <a16:colId xmlns:a16="http://schemas.microsoft.com/office/drawing/2014/main" val="126896975"/>
                    </a:ext>
                  </a:extLst>
                </a:gridCol>
                <a:gridCol w="3616499">
                  <a:extLst>
                    <a:ext uri="{9D8B030D-6E8A-4147-A177-3AD203B41FA5}">
                      <a16:colId xmlns:a16="http://schemas.microsoft.com/office/drawing/2014/main" val="2904718345"/>
                    </a:ext>
                  </a:extLst>
                </a:gridCol>
                <a:gridCol w="1477009">
                  <a:extLst>
                    <a:ext uri="{9D8B030D-6E8A-4147-A177-3AD203B41FA5}">
                      <a16:colId xmlns:a16="http://schemas.microsoft.com/office/drawing/2014/main" val="1022486375"/>
                    </a:ext>
                  </a:extLst>
                </a:gridCol>
              </a:tblGrid>
              <a:tr h="13556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Energy/technical data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358931406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Generating capacity for one unit [MW_h]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192611377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Heat efficiency (net, annual average)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430%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13929319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Heat efficiency (net, name plate)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420%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6854988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Auxiliary Electricity consumption (share of heat gen.)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4047345214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Forced outage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413508474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Planned outage [weeks per year]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123254209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Technical lifetime [years]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209806980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Construction time [years]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022851082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Space requirement [1000 m2/MW_h]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76738237"/>
                  </a:ext>
                </a:extLst>
              </a:tr>
              <a:tr h="13556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Regulation ability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344894583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Primary regulation (of full load, per 30 seconds)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982662329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Secondary regulation (of full load, per minute)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352736787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Minimum load (of full load)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558284812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Warm start-up time [hours]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001539347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Cold start-up time [hours]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948020099"/>
                  </a:ext>
                </a:extLst>
              </a:tr>
              <a:tr h="13556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Environment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199256600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SO2 (degree of desulphuring) []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34001455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NOX [g/GJ_i]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700978184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CH4 [g/GJ_i]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734030400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N2O [g/GJ_i]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2238907743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Particles [g/GJ_i]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399102866"/>
                  </a:ext>
                </a:extLst>
              </a:tr>
              <a:tr h="13556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Financial data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317720819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Nominal investment (*total) [MEUR/MW_h]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4253177548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Nominal investment (equipment) [MEUR/MW_h]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0.91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910418718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Nominal investment (grid connection) [MEUR/MW_e]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961307024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Nominal investment (installation) [MEUR/MW_h]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625061563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Variable O&amp;M (*total) [EUR/MWh_h]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26963885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Variable O&amp;M (electricity cost) [EUR/MWh_h]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962900956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Variable O&amp;M (other O&amp;M) [EUR/MWh_h]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3761055087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Fixed O&amp;M (*total) [EUR/MW_h/y]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2126.75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1255066962"/>
                  </a:ext>
                </a:extLst>
              </a:tr>
              <a:tr h="135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Startup cost [EUR/MW_h/startup]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872349514"/>
                  </a:ext>
                </a:extLst>
              </a:tr>
              <a:tr h="13556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Technology-specific data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10" marR="4710" marT="4710" marB="0" anchor="b"/>
                </a:tc>
                <a:extLst>
                  <a:ext uri="{0D108BD9-81ED-4DB2-BD59-A6C34878D82A}">
                    <a16:rowId xmlns:a16="http://schemas.microsoft.com/office/drawing/2014/main" val="854516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39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7E52-6810-3E64-A7D4-3006A9FA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Carbon Emissions Data (2024)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0859-4A8C-0801-8CC6-020CFC2C7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https://www.investing.com/commodities/carbon-emissions-historical-data</a:t>
            </a:r>
            <a:endParaRPr lang="en-US" dirty="0"/>
          </a:p>
          <a:p>
            <a:r>
              <a:rPr lang="en-US" dirty="0"/>
              <a:t>https://tradingeconomics.com/commodity/carbon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C7F076-F646-AC41-221D-1E1F37E6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167" y="3429000"/>
            <a:ext cx="7075665" cy="350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3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7E52-6810-3E64-A7D4-3006A9FA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E4EB1-DC78-9386-8567-11E73CD2A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8910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1703</Words>
  <Application>Microsoft Office PowerPoint</Application>
  <PresentationFormat>Widescreen</PresentationFormat>
  <Paragraphs>303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ELECTRICTY PRICE</vt:lpstr>
      <vt:lpstr>WtE Production Unit</vt:lpstr>
      <vt:lpstr>CO2 emission factor WtE = 37 kg/GJ</vt:lpstr>
      <vt:lpstr>Wood Chips CHP Prod Unit</vt:lpstr>
      <vt:lpstr>Natural Gas DH Only Prod Unit</vt:lpstr>
      <vt:lpstr>Heat Pump Excess Heat</vt:lpstr>
      <vt:lpstr>Carbon Emissions Data (2024)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Ardian Candra</dc:creator>
  <cp:lastModifiedBy>Johanna Kusuma</cp:lastModifiedBy>
  <cp:revision>3</cp:revision>
  <dcterms:created xsi:type="dcterms:W3CDTF">2025-11-21T07:47:00Z</dcterms:created>
  <dcterms:modified xsi:type="dcterms:W3CDTF">2025-12-03T17:34:53Z</dcterms:modified>
</cp:coreProperties>
</file>